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il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74320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FFFFFF"/>
                </a:solidFill>
                <a:latin typeface="JetBrains Mono"/>
              </a:defRPr>
            </a:pPr>
            <a:r>
              <a:t>01 / IDENTITY SYSTEM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  <a:latin typeface="Geist"/>
              </a:defRPr>
            </a:pPr>
            <a:r>
              <a:t>Your logistics company,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  <a:latin typeface="Geist"/>
              </a:defRPr>
            </a:pPr>
            <a:r>
              <a:t>connected.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789920" cy="182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FFFFFF"/>
                </a:solidFill>
                <a:latin typeface="JetBrains Mono"/>
              </a:defRPr>
            </a:pPr>
            <a:r>
              <a:t>REVIEW CANDIDATE / OWNER APPROVAL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FFFFFF"/>
                </a:solidFill>
                <a:latin typeface="Geist"/>
              </a:defRPr>
            </a:pPr>
            <a:r>
              <a:t>Run the movement. Know the margin.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74320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A72"/>
                </a:solidFill>
                <a:latin typeface="JetBrains Mono"/>
              </a:defRPr>
            </a:pPr>
            <a:r>
              <a:t>02 / IDENTITY SYSTEM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0F2B3D"/>
                </a:solidFill>
                <a:latin typeface="Geist"/>
              </a:defRPr>
            </a:pPr>
            <a:r>
              <a:t>A record follows the movement.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789920" cy="182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A72"/>
                </a:solidFill>
                <a:latin typeface="JetBrains Mono"/>
              </a:defRPr>
            </a:pPr>
            <a:r>
              <a:t>REVIEW CANDIDATE / OWNER APPROVAL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0F2B3D"/>
                </a:solidFill>
                <a:latin typeface="Geist"/>
              </a:defRPr>
            </a:pPr>
            <a:r>
              <a:t>Purpose</a:t>
            </a:r>
          </a:p>
          <a:p>
            <a:pPr>
              <a:spcAft>
                <a:spcPts val="1200"/>
              </a:spcAft>
              <a:defRPr sz="2400" b="0">
                <a:solidFill>
                  <a:srgbClr val="0F2B3D"/>
                </a:solidFill>
                <a:latin typeface="Geist"/>
              </a:defRPr>
            </a:pPr>
            <a:r>
              <a:t>Keep operational records, source documents and commercial context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20040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86A72"/>
                </a:solidFill>
                <a:latin typeface="JetBrains Mono"/>
              </a:defRPr>
            </a:pPr>
            <a:r>
              <a:t>PRECISE</a:t>
            </a:r>
          </a:p>
          <a:p>
            <a:pPr>
              <a:spcAft>
                <a:spcPts val="1200"/>
              </a:spcAft>
              <a:defRPr sz="2000" b="0">
                <a:solidFill>
                  <a:srgbClr val="586A72"/>
                </a:solidFill>
                <a:latin typeface="JetBrains Mono"/>
              </a:defRPr>
            </a:pPr>
            <a:r>
              <a:t>DEPENDABLE</a:t>
            </a:r>
          </a:p>
          <a:p>
            <a:pPr>
              <a:spcAft>
                <a:spcPts val="1200"/>
              </a:spcAft>
              <a:defRPr sz="2000" b="0">
                <a:solidFill>
                  <a:srgbClr val="586A72"/>
                </a:solidFill>
                <a:latin typeface="JetBrains Mono"/>
              </a:defRPr>
            </a:pPr>
            <a:r>
              <a:t>DIRECT</a:t>
            </a:r>
          </a:p>
          <a:p>
            <a:pPr>
              <a:spcAft>
                <a:spcPts val="1200"/>
              </a:spcAft>
              <a:defRPr sz="2000" b="0">
                <a:solidFill>
                  <a:srgbClr val="586A72"/>
                </a:solidFill>
                <a:latin typeface="JetBrains Mono"/>
              </a:defRPr>
            </a:pPr>
            <a:r>
              <a:t>CONNECTED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74320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A72"/>
                </a:solidFill>
                <a:latin typeface="JetBrains Mono"/>
              </a:defRPr>
            </a:pPr>
            <a:r>
              <a:t>03 / IDENTITY SYSTEM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0F2B3D"/>
                </a:solidFill>
                <a:latin typeface="Geist"/>
              </a:defRPr>
            </a:pPr>
            <a:r>
              <a:t>One parent. A connected product family.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789920" cy="182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A72"/>
                </a:solidFill>
                <a:latin typeface="JetBrains Mono"/>
              </a:defRPr>
            </a:pPr>
            <a:r>
              <a:t>REVIEW CANDIDATE / OWNER APPROVAL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0F2B3D"/>
                </a:solidFill>
                <a:latin typeface="Geist"/>
              </a:defRPr>
            </a:pPr>
            <a:r>
              <a:t>LOAD|BY|TON / parent identity</a:t>
            </a:r>
          </a:p>
          <a:p>
            <a:pPr>
              <a:spcAft>
                <a:spcPts val="1200"/>
              </a:spcAft>
              <a:defRPr sz="2500" b="0">
                <a:solidFill>
                  <a:srgbClr val="0F2B3D"/>
                </a:solidFill>
                <a:latin typeface="Geist"/>
              </a:defRPr>
            </a:pPr>
            <a:r>
              <a:t>LOAD|BY|TON.store / commerce and workspace</a:t>
            </a:r>
          </a:p>
          <a:p>
            <a:pPr>
              <a:spcAft>
                <a:spcPts val="1200"/>
              </a:spcAft>
              <a:defRPr sz="2500" b="0">
                <a:solidFill>
                  <a:srgbClr val="0F2B3D"/>
                </a:solidFill>
                <a:latin typeface="Geist"/>
              </a:defRPr>
            </a:pPr>
            <a:r>
              <a:t>Loadbyton OS / operating-platform shorthand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74320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A72"/>
                </a:solidFill>
                <a:latin typeface="JetBrains Mono"/>
              </a:defRPr>
            </a:pPr>
            <a:r>
              <a:t>04 / IDENTITY SYSTEM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0F2B3D"/>
                </a:solidFill>
                <a:latin typeface="Geist"/>
              </a:defRPr>
            </a:pPr>
            <a:r>
              <a:t>Two dividers. One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789920" cy="182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A72"/>
                </a:solidFill>
                <a:latin typeface="JetBrains Mono"/>
              </a:defRPr>
            </a:pPr>
            <a:r>
              <a:t>REVIEW CANDIDATE / OWNER APPROVAL PENDING</a:t>
            </a:r>
          </a:p>
        </p:txBody>
      </p:sp>
      <p:pic>
        <p:nvPicPr>
          <p:cNvPr id="7" name="Picture 6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91840"/>
            <a:ext cx="7772400" cy="1554480"/>
          </a:xfrm>
          <a:prstGeom prst="rect">
            <a:avLst/>
          </a:prstGeom>
        </p:spPr>
      </p:pic>
      <p:pic>
        <p:nvPicPr>
          <p:cNvPr id="8" name="Picture 7" descr="app-icon-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3154680"/>
            <a:ext cx="1554480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86A72"/>
                </a:solidFill>
                <a:latin typeface="Geist"/>
              </a:defRPr>
            </a:pPr>
            <a:r>
              <a:t>Use outlined SVG masters; preserve clear space and proportions.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74320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A72"/>
                </a:solidFill>
                <a:latin typeface="JetBrains Mono"/>
              </a:defRPr>
            </a:pPr>
            <a:r>
              <a:t>05 / IDENTITY SYSTEM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0F2B3D"/>
                </a:solidFill>
                <a:latin typeface="Geist"/>
              </a:defRPr>
            </a:pPr>
            <a:r>
              <a:t>Structure. Signal.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789920" cy="182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A72"/>
                </a:solidFill>
                <a:latin typeface="JetBrains Mono"/>
              </a:defRPr>
            </a:pPr>
            <a:r>
              <a:t>REVIEW CANDIDATE / OWNER APPROVAL PENDING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3383280" cy="1371600"/>
          </a:xfrm>
          <a:prstGeom prst="rect">
            <a:avLst/>
          </a:prstGeom>
          <a:solidFill>
            <a:srgbClr val="0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2B3D"/>
                </a:solidFill>
                <a:latin typeface="Geist"/>
              </a:defRPr>
            </a:pPr>
            <a:r>
              <a:t>Navy / #0F2B3D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291840"/>
            <a:ext cx="3383280" cy="1371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4800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2B3D"/>
                </a:solidFill>
                <a:latin typeface="Geist"/>
              </a:defRPr>
            </a:pPr>
            <a:r>
              <a:t>Red / #E53935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3291840"/>
            <a:ext cx="3383280" cy="13716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4800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2B3D"/>
                </a:solidFill>
                <a:latin typeface="Geist"/>
              </a:defRPr>
            </a:pPr>
            <a:r>
              <a:t>Warm white / #FFFDF7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86A72"/>
                </a:solidFill>
                <a:latin typeface="Inter"/>
              </a:defRPr>
            </a:pPr>
            <a:r>
              <a:t>Small white labels use #C62828 for AA contrast. RGB proof files need printer ICC conversion.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74320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A72"/>
                </a:solidFill>
                <a:latin typeface="JetBrains Mono"/>
              </a:defRPr>
            </a:pPr>
            <a:r>
              <a:t>06 / IDENTITY SYSTEM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0F2B3D"/>
                </a:solidFill>
                <a:latin typeface="Geist"/>
              </a:defRPr>
            </a:pPr>
            <a:r>
              <a:t>Readable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789920" cy="182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A72"/>
                </a:solidFill>
                <a:latin typeface="JetBrains Mono"/>
              </a:defRPr>
            </a:pPr>
            <a:r>
              <a:t>REVIEW CANDIDATE / OWNER APPROVAL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A72"/>
                </a:solidFill>
                <a:latin typeface="JetBrains Mono"/>
              </a:defRPr>
            </a:pPr>
            <a:r>
              <a:t>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0F2B3D"/>
                </a:solidFill>
                <a:latin typeface="Geist"/>
              </a:defRPr>
            </a:pPr>
            <a:r>
              <a:t>Geist / 600–700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291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A72"/>
                </a:solidFill>
                <a:latin typeface="JetBrains Mono"/>
              </a:defRPr>
            </a:pPr>
            <a:r>
              <a:t>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9319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0F2B3D"/>
                </a:solidFill>
                <a:latin typeface="Inter"/>
              </a:defRPr>
            </a:pPr>
            <a:r>
              <a:t>Inter / 400–600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3291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A72"/>
                </a:solidFill>
                <a:latin typeface="JetBrains Mono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39319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0F2B3D"/>
                </a:solidFill>
                <a:latin typeface="JetBrains Mono"/>
              </a:defRPr>
            </a:pPr>
            <a:r>
              <a:t>LBT-2026-001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32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586A72"/>
                </a:solidFill>
                <a:latin typeface="Inter"/>
              </a:defRPr>
            </a:pPr>
            <a:r>
              <a:t>Noto Sans Arabic is supplied. Arabic wording and brand transliteration still require native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74320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A72"/>
                </a:solidFill>
                <a:latin typeface="JetBrains Mono"/>
              </a:defRPr>
            </a:pPr>
            <a:r>
              <a:t>07 / IDENTITY SYSTEM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0F2B3D"/>
                </a:solidFill>
                <a:latin typeface="Geist"/>
              </a:defRPr>
            </a:pPr>
            <a:r>
              <a:t>Say what happens.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789920" cy="182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A72"/>
                </a:solidFill>
                <a:latin typeface="JetBrains Mono"/>
              </a:defRPr>
            </a:pPr>
            <a:r>
              <a:t>REVIEW CANDIDATE / OWNER APPROVAL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0F2B3D"/>
                </a:solidFill>
                <a:latin typeface="Geist"/>
              </a:defRPr>
            </a:pPr>
            <a:r>
              <a:t>Use</a:t>
            </a:r>
          </a:p>
          <a:p>
            <a:pPr>
              <a:spcAft>
                <a:spcPts val="1200"/>
              </a:spcAft>
              <a:defRPr sz="2300" b="0">
                <a:solidFill>
                  <a:srgbClr val="0F2B3D"/>
                </a:solidFill>
                <a:latin typeface="Geist"/>
              </a:defRPr>
            </a:pPr>
            <a:r>
              <a:t>Review the source document.</a:t>
            </a:r>
          </a:p>
          <a:p>
            <a:pPr>
              <a:spcAft>
                <a:spcPts val="1200"/>
              </a:spcAft>
              <a:defRPr sz="2300" b="0">
                <a:solidFill>
                  <a:srgbClr val="0F2B3D"/>
                </a:solidFill>
                <a:latin typeface="Geist"/>
              </a:defRPr>
            </a:pPr>
            <a:r>
              <a:t>Awaiting independent finance review.</a:t>
            </a:r>
          </a:p>
          <a:p>
            <a:pPr>
              <a:spcAft>
                <a:spcPts val="1200"/>
              </a:spcAft>
              <a:defRPr sz="2300" b="0">
                <a:solidFill>
                  <a:srgbClr val="0F2B3D"/>
                </a:solidFill>
                <a:latin typeface="Geist"/>
              </a:defRPr>
            </a:pPr>
            <a:r>
              <a:t>Pilot availability requires confirmation.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10896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586A72"/>
                </a:solidFill>
                <a:latin typeface="Geist"/>
              </a:defRPr>
            </a:pPr>
            <a:r>
              <a:t>Avoid</a:t>
            </a:r>
          </a:p>
          <a:p>
            <a:pPr>
              <a:spcAft>
                <a:spcPts val="1200"/>
              </a:spcAft>
              <a:defRPr sz="2300" b="0">
                <a:solidFill>
                  <a:srgbClr val="586A72"/>
                </a:solidFill>
                <a:latin typeface="Geist"/>
              </a:defRPr>
            </a:pPr>
            <a:r>
              <a:t>Guaranteed savings.</a:t>
            </a:r>
          </a:p>
          <a:p>
            <a:pPr>
              <a:spcAft>
                <a:spcPts val="1200"/>
              </a:spcAft>
              <a:defRPr sz="2300" b="0">
                <a:solidFill>
                  <a:srgbClr val="586A72"/>
                </a:solidFill>
                <a:latin typeface="Geist"/>
              </a:defRPr>
            </a:pPr>
            <a:r>
              <a:t>Every wallet works everywhere.</a:t>
            </a:r>
          </a:p>
          <a:p>
            <a:pPr>
              <a:spcAft>
                <a:spcPts val="1200"/>
              </a:spcAft>
              <a:defRPr sz="2300" b="0">
                <a:solidFill>
                  <a:srgbClr val="586A72"/>
                </a:solidFill>
                <a:latin typeface="Geist"/>
              </a:defRPr>
            </a:pPr>
            <a:r>
              <a:t>Official clearance built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74320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A72"/>
                </a:solidFill>
                <a:latin typeface="JetBrains Mono"/>
              </a:defRPr>
            </a:pPr>
            <a:r>
              <a:t>08 / IDENTITY SYSTEM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0F2B3D"/>
                </a:solidFill>
                <a:latin typeface="Geist"/>
              </a:defRPr>
            </a:pPr>
            <a:r>
              <a:t>One system. Many surfaces.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789920" cy="182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A72"/>
                </a:solidFill>
                <a:latin typeface="JetBrains Mono"/>
              </a:defRPr>
            </a:pPr>
            <a:r>
              <a:t>REVIEW CANDIDATE / OWNER APPROVAL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0F2B3D"/>
                </a:solidFill>
                <a:latin typeface="Geist"/>
              </a:defRPr>
            </a:pPr>
            <a:r>
              <a:t>Vector masters / app icons / social covers</a:t>
            </a:r>
          </a:p>
          <a:p>
            <a:pPr>
              <a:spcAft>
                <a:spcPts val="1200"/>
              </a:spcAft>
              <a:defRPr sz="2500" b="0">
                <a:solidFill>
                  <a:srgbClr val="0F2B3D"/>
                </a:solidFill>
                <a:latin typeface="Geist"/>
              </a:defRPr>
            </a:pPr>
            <a:r>
              <a:t>Stationery / presentations / HTML email</a:t>
            </a:r>
          </a:p>
          <a:p>
            <a:pPr>
              <a:spcAft>
                <a:spcPts val="1200"/>
              </a:spcAft>
              <a:defRPr sz="2500" b="0">
                <a:solidFill>
                  <a:srgbClr val="0F2B3D"/>
                </a:solidFill>
                <a:latin typeface="Geist"/>
              </a:defRPr>
            </a:pPr>
            <a:r>
              <a:t>Sector icons / illustrations / local fonts</a:t>
            </a:r>
          </a:p>
          <a:p>
            <a:pPr>
              <a:spcAft>
                <a:spcPts val="1200"/>
              </a:spcAft>
              <a:defRPr sz="2500" b="0">
                <a:solidFill>
                  <a:srgbClr val="0F2B3D"/>
                </a:solidFill>
                <a:latin typeface="Geist"/>
              </a:defRPr>
            </a:pPr>
            <a:r>
              <a:t>SVG + PNG + vector PDF + editable PPTX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il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74320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FFFFFF"/>
                </a:solidFill>
                <a:latin typeface="JetBrains Mono"/>
              </a:defRPr>
            </a:pPr>
            <a:r>
              <a:t>09 / IDENTITY SYSTEM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  <a:latin typeface="Geist"/>
              </a:defRPr>
            </a:pPr>
            <a:r>
              <a:t>Approve the identity. Keep the gates honest.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789920" cy="182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FFFFFF"/>
                </a:solidFill>
                <a:latin typeface="JetBrains Mono"/>
              </a:defRPr>
            </a:pPr>
            <a:r>
              <a:t>REVIEW CANDIDATE / OWNER APPROVAL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FFFFF"/>
                </a:solidFill>
                <a:latin typeface="Geist"/>
              </a:defRPr>
            </a:pPr>
            <a:r>
              <a:t>Owner artwork acceptance / native Arabic review</a:t>
            </a:r>
          </a:p>
          <a:p>
            <a:pPr>
              <a:spcAft>
                <a:spcPts val="1200"/>
              </a:spcAft>
              <a:defRPr sz="2300" b="0">
                <a:solidFill>
                  <a:srgbClr val="FFFFFF"/>
                </a:solidFill>
                <a:latin typeface="Geist"/>
              </a:defRPr>
            </a:pPr>
            <a:r>
              <a:t>Trademark and contact verification / printer proof</a:t>
            </a:r>
          </a:p>
          <a:p>
            <a:pPr>
              <a:spcAft>
                <a:spcPts val="1200"/>
              </a:spcAft>
              <a:defRPr sz="2300" b="0">
                <a:solidFill>
                  <a:srgbClr val="FFFFFF"/>
                </a:solidFill>
                <a:latin typeface="Geist"/>
              </a:defRPr>
            </a:pPr>
            <a:r>
              <a:t>Registrar evidence / real business and release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Loadbyton OS — Brand system 1.0</dc:title>
  <dc:subject>Review candidate based on Project-Loadbyton</dc:subject>
  <dc:creator>Loadbyton</dc:creator>
  <cp:keywords/>
  <dc:description>Owner approval pending. No invented commercial/provider evidence.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